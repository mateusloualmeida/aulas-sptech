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C833A37-0A26-480C-BA25-378FC2F31A64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A130BD-9DB4-426E-8525-C85A6F5644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366B8-6E90-4DCD-BEF1-D4B7BAEC02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A0A419-E660-4046-988A-BEF9566859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46BCD1-F81F-47CE-A219-1AA76E1A34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8FFE76-3012-4A3C-A056-3DB99D04D1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87AF65-EAC8-4FDF-8E38-777C430CEF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BD303F-9202-430D-9481-4467ED8AC0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9800" y="0"/>
            <a:ext cx="9033840" cy="72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-1097280"/>
            <a:ext cx="4114440" cy="4114440"/>
          </a:xfrm>
          <a:prstGeom prst="ellipse">
            <a:avLst/>
          </a:prstGeom>
          <a:solidFill>
            <a:srgbClr val="1d4d3c">
              <a:alpha val="70000"/>
            </a:srgbClr>
          </a:solidFill>
          <a:ln w="12700">
            <a:solidFill>
              <a:srgbClr val="1d4d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583680" y="-457200"/>
            <a:ext cx="2925720" cy="2925720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20040" y="6400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300" strike="noStrike">
                <a:solidFill>
                  <a:srgbClr val="95d5b2"/>
                </a:solidFill>
                <a:effectLst/>
                <a:uFillTx/>
                <a:latin typeface="Calibri"/>
              </a:rPr>
              <a:t>AGTECH · IOT · BUSINESS INTELLIGENCE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20040" y="100584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Agro-Efficiency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20040" y="205740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95d5b2"/>
                </a:solidFill>
                <a:effectLst/>
                <a:uFillTx/>
                <a:latin typeface="Calibri"/>
              </a:rPr>
              <a:t>Monitoramento Inteligente de Gases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20040" y="2697480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Transformando telemetria em retorno financeiro para estufas de alta performance.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0" y="4709160"/>
            <a:ext cx="9143640" cy="434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20040" y="473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© 2025 Agro-Efficiency  |  Confidencial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preencoded.png"/>
          <p:cNvPicPr/>
          <p:nvPr/>
        </p:nvPicPr>
        <p:blipFill>
          <a:blip r:embed="rId1"/>
          <a:stretch/>
        </p:blipFill>
        <p:spPr>
          <a:xfrm>
            <a:off x="7863840" y="4206240"/>
            <a:ext cx="639720" cy="63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457200" y="914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300" strike="noStrike">
                <a:solidFill>
                  <a:srgbClr val="95d5b2"/>
                </a:solidFill>
                <a:effectLst/>
                <a:uFillTx/>
                <a:latin typeface="Calibri"/>
              </a:rPr>
              <a:t>O PROBLEMA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457200" y="457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Pontos Cegos Custam Dinheiro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320040" y="1097280"/>
            <a:ext cx="2742840" cy="329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320040" y="1097280"/>
            <a:ext cx="2742840" cy="91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/>
          <p:cNvPicPr/>
          <p:nvPr/>
        </p:nvPicPr>
        <p:blipFill>
          <a:blip r:embed="rId1"/>
          <a:stretch/>
        </p:blipFill>
        <p:spPr>
          <a:xfrm>
            <a:off x="502920" y="1325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6"/>
          <p:cNvSpPr/>
          <p:nvPr/>
        </p:nvSpPr>
        <p:spPr>
          <a:xfrm>
            <a:off x="411480" y="19202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Gestão Manual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11480" y="2331720"/>
            <a:ext cx="2559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Sem dados em tempo real, decisões são feitas no escuro. Gases desperdiçados passam despercebidos.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3246120" y="1097280"/>
            <a:ext cx="2742840" cy="329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3246120" y="1097280"/>
            <a:ext cx="2742840" cy="91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1" descr="preencoded.png"/>
          <p:cNvPicPr/>
          <p:nvPr/>
        </p:nvPicPr>
        <p:blipFill>
          <a:blip r:embed="rId2"/>
          <a:stretch/>
        </p:blipFill>
        <p:spPr>
          <a:xfrm>
            <a:off x="3429000" y="1325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0"/>
          <p:cNvSpPr/>
          <p:nvPr/>
        </p:nvSpPr>
        <p:spPr>
          <a:xfrm>
            <a:off x="3337560" y="19202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Desperdício Invisível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3337560" y="2331720"/>
            <a:ext cx="2559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Vazamentos e sobrecarga de CO₂ consomem recursos sem gerar retorno. O custo oculto corrói a margem.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6172200" y="1097280"/>
            <a:ext cx="2742840" cy="329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6172200" y="1097280"/>
            <a:ext cx="2742840" cy="91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2" descr="preencoded.png"/>
          <p:cNvPicPr/>
          <p:nvPr/>
        </p:nvPicPr>
        <p:blipFill>
          <a:blip r:embed="rId3"/>
          <a:stretch/>
        </p:blipFill>
        <p:spPr>
          <a:xfrm>
            <a:off x="6355080" y="1325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4"/>
          <p:cNvSpPr/>
          <p:nvPr/>
        </p:nvSpPr>
        <p:spPr>
          <a:xfrm>
            <a:off x="6263640" y="19202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Risco Humano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6263640" y="2331720"/>
            <a:ext cx="2559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Ambientes com gases tóxicos sem monitoramento expõem colaboradores e comprometem certificações.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32004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300" strike="noStrike">
                <a:solidFill>
                  <a:srgbClr val="95d5b2"/>
                </a:solidFill>
                <a:effectLst/>
                <a:uFillTx/>
                <a:latin typeface="Calibri"/>
              </a:rPr>
              <a:t>A SOLUÇÃO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320040" y="5943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Sistema Integrado de Inteligência Agrícola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274320" y="1371600"/>
            <a:ext cx="2011320" cy="3200040"/>
          </a:xfrm>
          <a:prstGeom prst="rect">
            <a:avLst/>
          </a:prstGeom>
          <a:solidFill>
            <a:srgbClr val="1d4d3c"/>
          </a:solidFill>
          <a:ln w="6350">
            <a:solidFill>
              <a:srgbClr val="2d6a4f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4"/>
          <p:cNvSpPr/>
          <p:nvPr/>
        </p:nvSpPr>
        <p:spPr>
          <a:xfrm>
            <a:off x="274320" y="1371600"/>
            <a:ext cx="2011320" cy="5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365760" y="1463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52b788"/>
                </a:solidFill>
                <a:effectLst/>
                <a:uFillTx/>
                <a:latin typeface="Calibri"/>
              </a:rPr>
              <a:t>1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960120" y="15087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6"/>
          <p:cNvSpPr/>
          <p:nvPr/>
        </p:nvSpPr>
        <p:spPr>
          <a:xfrm>
            <a:off x="384120" y="20574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95d5b2"/>
                </a:solidFill>
                <a:effectLst/>
                <a:uFillTx/>
                <a:latin typeface="Calibri"/>
              </a:rPr>
              <a:t>Edge Computing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384120" y="2514600"/>
            <a:ext cx="1828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Nos sensores IoT para CO₂, temperatura e umidade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2450520" y="1371600"/>
            <a:ext cx="2011320" cy="3200040"/>
          </a:xfrm>
          <a:prstGeom prst="rect">
            <a:avLst/>
          </a:prstGeom>
          <a:solidFill>
            <a:srgbClr val="1d4d3c"/>
          </a:solidFill>
          <a:ln w="6350">
            <a:solidFill>
              <a:srgbClr val="2d6a4f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9"/>
          <p:cNvSpPr/>
          <p:nvPr/>
        </p:nvSpPr>
        <p:spPr>
          <a:xfrm>
            <a:off x="2450520" y="1371600"/>
            <a:ext cx="2011320" cy="5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2541960" y="1463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52b788"/>
                </a:solidFill>
                <a:effectLst/>
                <a:uFillTx/>
                <a:latin typeface="Calibri"/>
              </a:rPr>
              <a:t>2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1" descr="preencoded.png"/>
          <p:cNvPicPr/>
          <p:nvPr/>
        </p:nvPicPr>
        <p:blipFill>
          <a:blip r:embed="rId2"/>
          <a:stretch/>
        </p:blipFill>
        <p:spPr>
          <a:xfrm>
            <a:off x="3136320" y="15087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11"/>
          <p:cNvSpPr/>
          <p:nvPr/>
        </p:nvSpPr>
        <p:spPr>
          <a:xfrm>
            <a:off x="2560320" y="20574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95d5b2"/>
                </a:solidFill>
                <a:effectLst/>
                <a:uFillTx/>
                <a:latin typeface="Calibri"/>
              </a:rPr>
              <a:t>Cloud &amp; Storage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2560320" y="2514600"/>
            <a:ext cx="1828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Infraestrutura para recepção, tratamento e logs históricos seguros.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3"/>
          <p:cNvSpPr/>
          <p:nvPr/>
        </p:nvSpPr>
        <p:spPr>
          <a:xfrm>
            <a:off x="4626720" y="1371600"/>
            <a:ext cx="2011320" cy="3200040"/>
          </a:xfrm>
          <a:prstGeom prst="rect">
            <a:avLst/>
          </a:prstGeom>
          <a:solidFill>
            <a:srgbClr val="1d4d3c"/>
          </a:solidFill>
          <a:ln w="6350">
            <a:solidFill>
              <a:srgbClr val="2d6a4f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4626720" y="1371600"/>
            <a:ext cx="2011320" cy="5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4718160" y="1463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52b788"/>
                </a:solidFill>
                <a:effectLst/>
                <a:uFillTx/>
                <a:latin typeface="Calibri"/>
              </a:rPr>
              <a:t>3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2" descr="preencoded.png"/>
          <p:cNvPicPr/>
          <p:nvPr/>
        </p:nvPicPr>
        <p:blipFill>
          <a:blip r:embed="rId3"/>
          <a:stretch/>
        </p:blipFill>
        <p:spPr>
          <a:xfrm>
            <a:off x="5312520" y="15087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16"/>
          <p:cNvSpPr/>
          <p:nvPr/>
        </p:nvSpPr>
        <p:spPr>
          <a:xfrm>
            <a:off x="4736520" y="20574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95d5b2"/>
                </a:solidFill>
                <a:effectLst/>
                <a:uFillTx/>
                <a:latin typeface="Calibri"/>
              </a:rPr>
              <a:t>Dashboard BI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4736520" y="2514600"/>
            <a:ext cx="1828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KPIs financeiros em tempo real. Do ppm para o R$ em segundos.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6803280" y="1371600"/>
            <a:ext cx="2011320" cy="3200040"/>
          </a:xfrm>
          <a:prstGeom prst="rect">
            <a:avLst/>
          </a:prstGeom>
          <a:solidFill>
            <a:srgbClr val="1d4d3c"/>
          </a:solidFill>
          <a:ln w="6350">
            <a:solidFill>
              <a:srgbClr val="2d6a4f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9"/>
          <p:cNvSpPr/>
          <p:nvPr/>
        </p:nvSpPr>
        <p:spPr>
          <a:xfrm>
            <a:off x="6803280" y="1371600"/>
            <a:ext cx="2011320" cy="5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6894720" y="1463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52b788"/>
                </a:solidFill>
                <a:effectLst/>
                <a:uFillTx/>
                <a:latin typeface="Calibri"/>
              </a:rPr>
              <a:t>4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3" descr="preencoded.png"/>
          <p:cNvPicPr/>
          <p:nvPr/>
        </p:nvPicPr>
        <p:blipFill>
          <a:blip r:embed="rId4"/>
          <a:stretch/>
        </p:blipFill>
        <p:spPr>
          <a:xfrm>
            <a:off x="7489080" y="15087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21"/>
          <p:cNvSpPr/>
          <p:nvPr/>
        </p:nvSpPr>
        <p:spPr>
          <a:xfrm>
            <a:off x="6912720" y="20574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95d5b2"/>
                </a:solidFill>
                <a:effectLst/>
                <a:uFillTx/>
                <a:latin typeface="Calibri"/>
              </a:rPr>
              <a:t>Análise Preditiva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6912720" y="2514600"/>
            <a:ext cx="1828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Histórico inteligente para previsão de compra de insumos.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457200" y="91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300" strike="noStrike">
                <a:solidFill>
                  <a:srgbClr val="95d5b2"/>
                </a:solidFill>
                <a:effectLst/>
                <a:uFillTx/>
                <a:latin typeface="Calibri"/>
              </a:rPr>
              <a:t>DASHBOARD FINANCEIRO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457200" y="4755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 Sensor ao Indicador de Negócio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182880" y="1005840"/>
            <a:ext cx="8777880" cy="502560"/>
          </a:xfrm>
          <a:prstGeom prst="rect">
            <a:avLst/>
          </a:prstGeom>
          <a:solidFill>
            <a:srgbClr val="d8eed3"/>
          </a:solidFill>
          <a:ln w="12700">
            <a:solidFill>
              <a:srgbClr val="95d5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365760" y="105156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Tudo é medido e controlado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228600" y="1645920"/>
            <a:ext cx="420588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228600" y="1645920"/>
            <a:ext cx="63720" cy="1325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411480" y="17373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64748b"/>
                </a:solidFill>
                <a:effectLst/>
                <a:uFillTx/>
                <a:latin typeface="Calibri"/>
              </a:rPr>
              <a:t>KPI Desperdício Evitado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411480" y="199332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63946"/>
                </a:solidFill>
                <a:effectLst/>
                <a:uFillTx/>
                <a:latin typeface="Georgia"/>
                <a:ea typeface="Georgia"/>
              </a:rPr>
              <a:t>R$ 450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411480" y="256032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Vazamento detectado no Setor C — economizado este mês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4709160" y="1645920"/>
            <a:ext cx="420588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2"/>
          <p:cNvSpPr/>
          <p:nvPr/>
        </p:nvSpPr>
        <p:spPr>
          <a:xfrm>
            <a:off x="4709160" y="1645920"/>
            <a:ext cx="63720" cy="13255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4892040" y="17373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64748b"/>
                </a:solidFill>
                <a:effectLst/>
                <a:uFillTx/>
                <a:latin typeface="Calibri"/>
              </a:rPr>
              <a:t>KPI Produtividade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4892040" y="199332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1a3c34"/>
                </a:solidFill>
                <a:effectLst/>
                <a:uFillTx/>
                <a:latin typeface="Georgia"/>
                <a:ea typeface="Georgia"/>
              </a:rPr>
              <a:t>+15%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4892040" y="256032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Ambiente atual acima da média histórica do semestre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6"/>
          <p:cNvSpPr/>
          <p:nvPr/>
        </p:nvSpPr>
        <p:spPr>
          <a:xfrm>
            <a:off x="228600" y="3108960"/>
            <a:ext cx="420588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228600" y="3108960"/>
            <a:ext cx="63720" cy="1325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411480" y="32004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64748b"/>
                </a:solidFill>
                <a:effectLst/>
                <a:uFillTx/>
                <a:latin typeface="Calibri"/>
              </a:rPr>
              <a:t>Consumo vs. Orçamento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411480" y="345636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4a261"/>
                </a:solidFill>
                <a:effectLst/>
                <a:uFillTx/>
                <a:latin typeface="Georgia"/>
                <a:ea typeface="Georgia"/>
              </a:rPr>
              <a:t>92%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411480" y="40233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Uso de CO₂ dentro do budget planejado em tempo real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1"/>
          <p:cNvSpPr/>
          <p:nvPr/>
        </p:nvSpPr>
        <p:spPr>
          <a:xfrm>
            <a:off x="4709160" y="3108960"/>
            <a:ext cx="420588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2"/>
          <p:cNvSpPr/>
          <p:nvPr/>
        </p:nvSpPr>
        <p:spPr>
          <a:xfrm>
            <a:off x="4709160" y="3108960"/>
            <a:ext cx="63720" cy="1325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3"/>
          <p:cNvSpPr/>
          <p:nvPr/>
        </p:nvSpPr>
        <p:spPr>
          <a:xfrm>
            <a:off x="4892040" y="32004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64748b"/>
                </a:solidFill>
                <a:effectLst/>
                <a:uFillTx/>
                <a:latin typeface="Calibri"/>
              </a:rPr>
              <a:t>Alertas Ativos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4892040" y="345636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1a3c34"/>
                </a:solidFill>
                <a:effectLst/>
                <a:uFillTx/>
                <a:latin typeface="Georgia"/>
                <a:ea typeface="Georgia"/>
              </a:rPr>
              <a:t>0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5"/>
          <p:cNvSpPr/>
          <p:nvPr/>
        </p:nvSpPr>
        <p:spPr>
          <a:xfrm>
            <a:off x="4892040" y="40233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Nenhuma anomalia crítica detectada nos últimos 30 dias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320040" y="228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300" strike="noStrike">
                <a:solidFill>
                  <a:srgbClr val="f4a261"/>
                </a:solidFill>
                <a:effectLst/>
                <a:uFillTx/>
                <a:latin typeface="Calibri"/>
              </a:rPr>
              <a:t>RETORNO SOBRE INVESTIMENTO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32004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Onde o Dado Vira Dinheiro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274320" y="1371600"/>
            <a:ext cx="2742840" cy="3382920"/>
          </a:xfrm>
          <a:prstGeom prst="rect">
            <a:avLst/>
          </a:prstGeom>
          <a:solidFill>
            <a:srgbClr val="0d2b22"/>
          </a:solidFill>
          <a:ln w="635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274320" y="1371600"/>
            <a:ext cx="2742840" cy="63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0" descr="preencoded.png"/>
          <p:cNvPicPr/>
          <p:nvPr/>
        </p:nvPicPr>
        <p:blipFill>
          <a:blip r:embed="rId1"/>
          <a:stretch/>
        </p:blipFill>
        <p:spPr>
          <a:xfrm>
            <a:off x="411480" y="15087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5"/>
          <p:cNvSpPr/>
          <p:nvPr/>
        </p:nvSpPr>
        <p:spPr>
          <a:xfrm>
            <a:off x="384120" y="2084760"/>
            <a:ext cx="2514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Redução de Custos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384120" y="2633400"/>
            <a:ext cx="72720" cy="727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521280" y="25786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Detecção precoce de vazamentos de gás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384120" y="3200400"/>
            <a:ext cx="72720" cy="727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521280" y="31456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Eliminação de sobrecarga de fertilizantes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384120" y="3767400"/>
            <a:ext cx="72720" cy="727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521280" y="37123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Hardware amortizado em até 12 meses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3218760" y="1371600"/>
            <a:ext cx="2742840" cy="3382920"/>
          </a:xfrm>
          <a:prstGeom prst="rect">
            <a:avLst/>
          </a:prstGeom>
          <a:solidFill>
            <a:srgbClr val="0d2b22"/>
          </a:solidFill>
          <a:ln w="635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3218760" y="1371600"/>
            <a:ext cx="2742840" cy="63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1" descr="preencoded.png"/>
          <p:cNvPicPr/>
          <p:nvPr/>
        </p:nvPicPr>
        <p:blipFill>
          <a:blip r:embed="rId2"/>
          <a:stretch/>
        </p:blipFill>
        <p:spPr>
          <a:xfrm>
            <a:off x="3355920" y="15087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14"/>
          <p:cNvSpPr/>
          <p:nvPr/>
        </p:nvSpPr>
        <p:spPr>
          <a:xfrm>
            <a:off x="3328560" y="2084760"/>
            <a:ext cx="2514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Aumento de Receita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5"/>
          <p:cNvSpPr/>
          <p:nvPr/>
        </p:nvSpPr>
        <p:spPr>
          <a:xfrm>
            <a:off x="3328560" y="2633400"/>
            <a:ext cx="72720" cy="727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3465720" y="25786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Plantas no pico fotossintético por mais tempo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7"/>
          <p:cNvSpPr/>
          <p:nvPr/>
        </p:nvSpPr>
        <p:spPr>
          <a:xfrm>
            <a:off x="3328560" y="3200400"/>
            <a:ext cx="72720" cy="727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8"/>
          <p:cNvSpPr/>
          <p:nvPr/>
        </p:nvSpPr>
        <p:spPr>
          <a:xfrm>
            <a:off x="3465720" y="31456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Redução do ciclo de colheita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9"/>
          <p:cNvSpPr/>
          <p:nvPr/>
        </p:nvSpPr>
        <p:spPr>
          <a:xfrm>
            <a:off x="3328560" y="3767400"/>
            <a:ext cx="72720" cy="727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0"/>
          <p:cNvSpPr/>
          <p:nvPr/>
        </p:nvSpPr>
        <p:spPr>
          <a:xfrm>
            <a:off x="3465720" y="37123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Maior produtividade por m² de estufa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1"/>
          <p:cNvSpPr/>
          <p:nvPr/>
        </p:nvSpPr>
        <p:spPr>
          <a:xfrm>
            <a:off x="6163200" y="1371600"/>
            <a:ext cx="2742840" cy="3382920"/>
          </a:xfrm>
          <a:prstGeom prst="rect">
            <a:avLst/>
          </a:prstGeom>
          <a:solidFill>
            <a:srgbClr val="0d2b22"/>
          </a:solidFill>
          <a:ln w="635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6163200" y="1371600"/>
            <a:ext cx="2742840" cy="63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2" descr="preencoded.png"/>
          <p:cNvPicPr/>
          <p:nvPr/>
        </p:nvPicPr>
        <p:blipFill>
          <a:blip r:embed="rId3"/>
          <a:stretch/>
        </p:blipFill>
        <p:spPr>
          <a:xfrm>
            <a:off x="6300360" y="15087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23"/>
          <p:cNvSpPr/>
          <p:nvPr/>
        </p:nvSpPr>
        <p:spPr>
          <a:xfrm>
            <a:off x="6272640" y="2084760"/>
            <a:ext cx="2514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Segurança &amp; Conformidade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4"/>
          <p:cNvSpPr/>
          <p:nvPr/>
        </p:nvSpPr>
        <p:spPr>
          <a:xfrm>
            <a:off x="6272640" y="2633400"/>
            <a:ext cx="72720" cy="727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5"/>
          <p:cNvSpPr/>
          <p:nvPr/>
        </p:nvSpPr>
        <p:spPr>
          <a:xfrm>
            <a:off x="6409800" y="25786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Proteção do capital humano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6"/>
          <p:cNvSpPr/>
          <p:nvPr/>
        </p:nvSpPr>
        <p:spPr>
          <a:xfrm>
            <a:off x="6272640" y="3200400"/>
            <a:ext cx="72720" cy="727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7"/>
          <p:cNvSpPr/>
          <p:nvPr/>
        </p:nvSpPr>
        <p:spPr>
          <a:xfrm>
            <a:off x="6409800" y="31456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Relatórios de sustentabilidade automáticos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8"/>
          <p:cNvSpPr/>
          <p:nvPr/>
        </p:nvSpPr>
        <p:spPr>
          <a:xfrm>
            <a:off x="6272640" y="3767400"/>
            <a:ext cx="72720" cy="727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9"/>
          <p:cNvSpPr/>
          <p:nvPr/>
        </p:nvSpPr>
        <p:spPr>
          <a:xfrm>
            <a:off x="6409800" y="37123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Certificações de mercado facilitadas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457200" y="91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300" strike="noStrike">
                <a:solidFill>
                  <a:srgbClr val="95d5b2"/>
                </a:solidFill>
                <a:effectLst/>
                <a:uFillTx/>
                <a:latin typeface="Calibri"/>
              </a:rPr>
              <a:t>ESCOPO TÉCNICO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457200" y="457200"/>
            <a:ext cx="82292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Premissas, Restrições e Entregáveis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182880" y="1005840"/>
            <a:ext cx="411444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182880" y="1005840"/>
            <a:ext cx="4114440" cy="411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320040" y="10789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 PREMISSAS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0" descr="preencoded.png"/>
          <p:cNvPicPr/>
          <p:nvPr/>
        </p:nvPicPr>
        <p:blipFill>
          <a:blip r:embed="rId1"/>
          <a:stretch/>
        </p:blipFill>
        <p:spPr>
          <a:xfrm>
            <a:off x="320040" y="16002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7"/>
          <p:cNvSpPr/>
          <p:nvPr/>
        </p:nvSpPr>
        <p:spPr>
          <a:xfrm>
            <a:off x="685800" y="157284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Conectividade estável (Wi-Fi, LoRa ou 4G/5G) no local de instalação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1" descr="preencoded.png"/>
          <p:cNvPicPr/>
          <p:nvPr/>
        </p:nvPicPr>
        <p:blipFill>
          <a:blip r:embed="rId2"/>
          <a:stretch/>
        </p:blipFill>
        <p:spPr>
          <a:xfrm>
            <a:off x="320040" y="25146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8"/>
          <p:cNvSpPr/>
          <p:nvPr/>
        </p:nvSpPr>
        <p:spPr>
          <a:xfrm>
            <a:off x="685800" y="248724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Calibração periódica dos sensores para integridade dos dados financeiros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4846320" y="1005840"/>
            <a:ext cx="411444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4846320" y="1005840"/>
            <a:ext cx="4114440" cy="411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4983480" y="10789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⚠  RESTRIÇÕES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2" descr="preencoded.png"/>
          <p:cNvPicPr/>
          <p:nvPr/>
        </p:nvPicPr>
        <p:blipFill>
          <a:blip r:embed="rId3"/>
          <a:stretch/>
        </p:blipFill>
        <p:spPr>
          <a:xfrm>
            <a:off x="4983480" y="16002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12"/>
          <p:cNvSpPr/>
          <p:nvPr/>
        </p:nvSpPr>
        <p:spPr>
          <a:xfrm>
            <a:off x="5349240" y="157284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Custo do hardware amortizado em no máximo 12 meses de operação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3" descr="preencoded.png"/>
          <p:cNvPicPr/>
          <p:nvPr/>
        </p:nvPicPr>
        <p:blipFill>
          <a:blip r:embed="rId4"/>
          <a:stretch/>
        </p:blipFill>
        <p:spPr>
          <a:xfrm>
            <a:off x="4983480" y="25146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13"/>
          <p:cNvSpPr/>
          <p:nvPr/>
        </p:nvSpPr>
        <p:spPr>
          <a:xfrm>
            <a:off x="5349240" y="248724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Dispositivos com proteção IP65+ contra umidade e defensivos agrícolas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5486400" y="457200"/>
            <a:ext cx="4114440" cy="4114440"/>
          </a:xfrm>
          <a:prstGeom prst="ellipse">
            <a:avLst/>
          </a:prstGeom>
          <a:solidFill>
            <a:srgbClr val="1d4d3c">
              <a:alpha val="60000"/>
            </a:srgbClr>
          </a:solidFill>
          <a:ln w="12700">
            <a:solidFill>
              <a:srgbClr val="1d4d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320040" y="54864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300" strike="noStrike">
                <a:solidFill>
                  <a:srgbClr val="95d5b2"/>
                </a:solidFill>
                <a:effectLst/>
                <a:uFillTx/>
                <a:latin typeface="Calibri"/>
              </a:rPr>
              <a:t>PRÓXIMOS PASSOS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320040" y="914400"/>
            <a:ext cx="68576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Comece a Medir.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Comece a Lucrar.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320040" y="2514600"/>
            <a:ext cx="411120" cy="4111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320040" y="25329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01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822960" y="254196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Diagnóstico gratuito da estufa e mapeamento de pontos de sensor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320040" y="3200400"/>
            <a:ext cx="411120" cy="4111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320040" y="321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02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822960" y="322776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Proposta técnica e financeira com projeção de ROI personalizada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320040" y="3886200"/>
            <a:ext cx="411120" cy="4111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320040" y="39045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03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822960" y="391356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a8c5b5"/>
                </a:solidFill>
                <a:effectLst/>
                <a:uFillTx/>
                <a:latin typeface="Calibri"/>
              </a:rPr>
              <a:t>Instalação piloto em setor-chave e validação de resultados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3"/>
          <p:cNvSpPr/>
          <p:nvPr/>
        </p:nvSpPr>
        <p:spPr>
          <a:xfrm>
            <a:off x="0" y="4480560"/>
            <a:ext cx="9143640" cy="662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0" descr="preencoded.png"/>
          <p:cNvPicPr/>
          <p:nvPr/>
        </p:nvPicPr>
        <p:blipFill>
          <a:blip r:embed="rId1"/>
          <a:stretch/>
        </p:blipFill>
        <p:spPr>
          <a:xfrm>
            <a:off x="274320" y="4526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 14"/>
          <p:cNvSpPr/>
          <p:nvPr/>
        </p:nvSpPr>
        <p:spPr>
          <a:xfrm>
            <a:off x="685800" y="45446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3c34"/>
                </a:solidFill>
                <a:effectLst/>
                <a:uFillTx/>
                <a:latin typeface="Calibri"/>
              </a:rPr>
              <a:t>contato@agro-efficiency.com.br  |  www.agro-efficiency.com.br  |  (11) 9 9999-0000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2026-03-17T23:17:28Z</dcterms:created>
  <dc:creator>PptxGenJS</dc:creator>
  <dc:description/>
  <dc:language>pt-BR</dc:language>
  <cp:lastModifiedBy/>
  <dcterms:modified xsi:type="dcterms:W3CDTF">2026-03-17T20:26:32Z</dcterms:modified>
  <cp:revision>2</cp:revision>
  <dc:subject>PptxGenJS Presentation</dc:subject>
  <dc:title>Agro-Efficiency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